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84" autoAdjust="0"/>
  </p:normalViewPr>
  <p:slideViewPr>
    <p:cSldViewPr snapToGrid="0">
      <p:cViewPr varScale="1">
        <p:scale>
          <a:sx n="51" d="100"/>
          <a:sy n="51" d="100"/>
        </p:scale>
        <p:origin x="12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58EE1-98D9-4D6C-8AE3-6778EC21123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A19AA-2288-457A-95B1-A5CAC415C3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760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is X concentrated in the center?"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much does O form a pattern along a main diagonal?"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much does X occupy the top row vs bottom row?"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19AA-2288-457A-95B1-A5CAC415C32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67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19AA-2288-457A-95B1-A5CAC415C32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2487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19AA-2288-457A-95B1-A5CAC415C32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0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9A27F5-2672-CF25-D20F-B58D99B6E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DAC41B-1977-9E39-DC1E-E7F532303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DE1675-69E2-7E5F-0FAA-1793060A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F9D6AD-2A62-131A-8C80-0AF49BB4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9E5CCF-A2BE-476B-BFC8-9BBA2048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47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E15C8-B48E-C48E-1F7F-B8597493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5709ED-97BA-5619-5C18-B7E212C99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CB8D9D-850B-676B-2AC2-8B4114D5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C1FAB2-C486-D4E2-FF65-0C518434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1289ED-BDB7-56ED-7C1C-550D5FE4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52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EB2A05-B1A5-EC07-2E5A-5A6CF3BF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12C867-1EB9-5D5D-E980-D04EA744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885D0E-DC46-0209-1BC2-CE3F8514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EA0685-7C92-07C9-34ED-6156BD8D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3796A8-913B-7807-63D6-EC947059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4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5DCD8D-7693-1027-2820-D7FFAAC8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8C5D8C-C4A0-8E6A-1112-4B23B09A9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3F89CCD-A0CF-6841-4CA0-005F4DA75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1DB11A-ACE8-57EF-7C90-2A897E4E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226100-1A17-24D3-DB9B-B4FD42DF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6B7B6B-77CC-C7BC-6A5F-D9A0811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99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1803D-8112-ECF1-1D45-8C3D98C4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A013B7-CF53-977F-F840-EAC1FE4CA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C69FDAB-E436-2C13-C99F-660F310FE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5E67C8-00C0-6B65-9875-F12487061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97980F-F4E7-B266-7C61-6A61E762C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93E58B-083A-B6CA-1852-2EAFBEA4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0CD6C81-4DF7-B744-A58D-1A123E18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C0E3F0-AA6F-5217-FED4-42476A7F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0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8801C-AD11-5C05-4F7F-3E14FBED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4F8C96D-514F-726A-10CA-E2A70B23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32BA5A-63E1-ADDF-E5D5-C4FFF87C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748FB3-BDAF-C91A-F5E4-79F200C7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32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C73B6B-662E-E8D9-8AAE-5A5B55FD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19A44B-9B66-0AD9-D54E-850FA6F3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905792-7F40-0441-F504-8CE64FC7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73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265031-7E71-E61C-C759-CA1B695B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0CDAFF-A55A-DC35-7190-FB718FDD9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B0296C-AC24-EF7F-CD58-237EE10BC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2EB29D-E09E-6E66-CF20-6CB9FEE5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36DCF6-890B-DFE7-4E99-8602E76E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985885-E340-B316-0FA3-1DCA1610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19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17A1C-CF8E-DB66-3267-6AEC5405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CA5624-8C00-1373-38B1-E908BC9DA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72D459-DD4C-6716-01F6-218B31966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913E76-51CB-BE7C-5FA0-9D855ADB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6233AF-0AD1-6210-6BB1-82F1635A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E765F6-9321-940B-2809-695F28E6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77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498F8-6D74-D20D-C19D-B8002C5E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D01FDB-A064-2D06-EDA7-4DECF4E89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1EE1C-0AB9-E277-277A-13FE2500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9C744F-B387-EC5A-93D7-B0AD1AE3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ABDB71-409C-5909-8079-82100F0F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9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0C7B81-EC6D-ACA9-CEEE-88706AB9B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9F0B8F-A245-2708-ACA7-9653EE317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460EA6-5DEC-1212-8C3E-E0923E70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4E062A-7AE0-CB7F-ACD4-79F43589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3D5BD8-267F-8F1D-BA3E-23A0ECF9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4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BF6523-3D7C-5EEA-D2AE-D29CCA04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CF08B7-6C49-ADC2-0604-610BAF3AE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2B2C26-D62B-5F26-A44E-4BB3E1B84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9CD7D-0358-4079-8989-B636187496C1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507A5E-18AB-A098-794A-D7E28DED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D3BC09-C1EC-9E16-31FE-C99E3D483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213BB-133E-4FA4-AEC6-3C84EBC666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66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B80130-A361-4FDA-6CA1-0B955CC78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Polynomial Spectral Pattern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CDF2B4-20D7-FE4B-EFBB-EAC594572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 fixed orthogonal spectral basis (DCT), </a:t>
            </a:r>
          </a:p>
          <a:p>
            <a:r>
              <a:rPr lang="en-US" altLang="zh-TW" dirty="0"/>
              <a:t>with a polynomial (degree-4) linear model on top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869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279B0-EC81-BD60-C84F-723F9FC0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74457"/>
            <a:ext cx="10439006" cy="1146037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"spectral" pattern on 3×3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53595F-0210-D1E0-E14F-C3EFB6166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15" y="2340222"/>
            <a:ext cx="4734838" cy="3647306"/>
          </a:xfrm>
        </p:spPr>
        <p:txBody>
          <a:bodyPr anchor="t">
            <a:normAutofit/>
          </a:bodyPr>
          <a:lstStyle/>
          <a:p>
            <a:r>
              <a:rPr lang="en-US" altLang="zh-TW" sz="2400" dirty="0"/>
              <a:t>One grid for X positions: 1 where X is present, 0 otherwise.</a:t>
            </a:r>
          </a:p>
          <a:p>
            <a:r>
              <a:rPr lang="en-US" altLang="zh-TW" sz="2400" dirty="0"/>
              <a:t>One grid for O positions: 1 where O is present, 0 otherwise</a:t>
            </a:r>
          </a:p>
        </p:txBody>
      </p:sp>
      <p:pic>
        <p:nvPicPr>
          <p:cNvPr id="5" name="圖片 4" descr="一張含有 螢幕擷取畫面, 文字, 字型, 設計 的圖片&#10;&#10;AI 產生的內容可能不正確。">
            <a:extLst>
              <a:ext uri="{FF2B5EF4-FFF2-40B4-BE49-F238E27FC236}">
                <a16:creationId xmlns:a16="http://schemas.microsoft.com/office/drawing/2014/main" id="{F3D8AE37-F8A4-D38B-079B-2892696F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857" y="2340222"/>
            <a:ext cx="1785535" cy="3217333"/>
          </a:xfrm>
          <a:prstGeom prst="rect">
            <a:avLst/>
          </a:prstGeom>
        </p:spPr>
      </p:pic>
      <p:pic>
        <p:nvPicPr>
          <p:cNvPr id="9" name="圖片 8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86FD4B21-93DE-93F6-7828-35899DC2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579" y="2340222"/>
            <a:ext cx="1840612" cy="3206839"/>
          </a:xfrm>
          <a:prstGeom prst="rect">
            <a:avLst/>
          </a:prstGeom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801B043-9AA4-E306-9EA5-1E6CA4711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001" y="2340222"/>
            <a:ext cx="1905239" cy="32068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5A96EFD-722D-8190-F43C-1B4933B96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25ED3-709D-D880-97AA-BD59CE68C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CDAEA7-BFCF-EF19-EAD7-11B02AD0D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718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356DAA-0D7B-936F-74BF-A4A50CF4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Discrete Cosine Transform (DCT)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C627D9-3336-82D1-9838-E1E7A2651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 DCT decomposes the grid into a sum of </a:t>
            </a:r>
            <a:r>
              <a:rPr lang="en-US" altLang="zh-TW" b="1" dirty="0"/>
              <a:t>patterns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A very smooth pattern (almost constant over the whole board).</a:t>
            </a:r>
          </a:p>
          <a:p>
            <a:pPr lvl="1"/>
            <a:r>
              <a:rPr lang="en-US" altLang="zh-TW" dirty="0"/>
              <a:t>Row‑like patterns.</a:t>
            </a:r>
          </a:p>
          <a:p>
            <a:pPr lvl="1"/>
            <a:r>
              <a:rPr lang="en-US" altLang="zh-TW" dirty="0"/>
              <a:t>Column‑like patterns.</a:t>
            </a:r>
          </a:p>
          <a:p>
            <a:pPr lvl="1"/>
            <a:r>
              <a:rPr lang="en-US" altLang="zh-TW" dirty="0"/>
              <a:t>Diagonal or more oscillatory patterns.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3×3 grid gets</a:t>
            </a:r>
          </a:p>
          <a:p>
            <a:r>
              <a:rPr lang="en-US" altLang="zh-TW" dirty="0"/>
              <a:t> 9 DCT coefficients per player, so </a:t>
            </a:r>
            <a:r>
              <a:rPr lang="en-US" altLang="zh-TW" b="1" dirty="0"/>
              <a:t>18 base features</a:t>
            </a:r>
            <a:r>
              <a:rPr lang="en-US" altLang="zh-TW" dirty="0"/>
              <a:t> total:</a:t>
            </a:r>
          </a:p>
          <a:p>
            <a:r>
              <a:rPr lang="en-US" altLang="zh-TW" sz="2400" dirty="0"/>
              <a:t>DX[</a:t>
            </a:r>
            <a:r>
              <a:rPr lang="en-US" altLang="zh-TW" sz="2400" dirty="0" err="1"/>
              <a:t>u,v</a:t>
            </a:r>
            <a:r>
              <a:rPr lang="en-US" altLang="zh-TW" sz="2400" dirty="0"/>
              <a:t>] for X’s pattern at frequency (</a:t>
            </a:r>
            <a:r>
              <a:rPr lang="en-US" altLang="zh-TW" sz="2400" dirty="0" err="1"/>
              <a:t>u,v</a:t>
            </a:r>
            <a:r>
              <a:rPr lang="en-US" altLang="zh-TW" sz="2400" dirty="0"/>
              <a:t>).</a:t>
            </a:r>
          </a:p>
          <a:p>
            <a:r>
              <a:rPr lang="en-US" altLang="zh-TW" sz="2400" dirty="0"/>
              <a:t>DO[</a:t>
            </a:r>
            <a:r>
              <a:rPr lang="en-US" altLang="zh-TW" sz="2400" dirty="0" err="1"/>
              <a:t>u,v</a:t>
            </a:r>
            <a:r>
              <a:rPr lang="en-US" altLang="zh-TW" sz="2400" dirty="0"/>
              <a:t>] for O’s pattern at frequency (</a:t>
            </a:r>
            <a:r>
              <a:rPr lang="en-US" altLang="zh-TW" sz="2400" dirty="0" err="1"/>
              <a:t>u,v</a:t>
            </a:r>
            <a:r>
              <a:rPr lang="en-US" altLang="zh-TW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4136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2D576B8-D89B-A7D4-C6AB-9F021BE0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1" y="643467"/>
            <a:ext cx="3203363" cy="557106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E309878-CA74-3FD2-D42C-80A6CF81B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256" y="643467"/>
            <a:ext cx="3384422" cy="55710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140D60B-7706-ABF3-FC0C-2D69FAAC3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048" y="924374"/>
            <a:ext cx="4982270" cy="208626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A3B3DB5-45FC-0DE2-D26F-5C8355EB2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048" y="3793736"/>
            <a:ext cx="4982270" cy="213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9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02667E7-CE91-497E-BCAC-CDFDB23A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altLang="zh-TW" sz="4000"/>
              <a:t>Products of these spectral coefficients</a:t>
            </a:r>
            <a:endParaRPr lang="zh-TW" altLang="en-US" sz="40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C33388-1B34-5272-027F-CC2D54CB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A polynomial of degree 4</a:t>
            </a:r>
          </a:p>
          <a:p>
            <a:r>
              <a:rPr lang="en-US" altLang="zh-TW" sz="2000" dirty="0"/>
              <a:t>A feature vector of length 7314. Each feature is a monomial like:</a:t>
            </a:r>
          </a:p>
          <a:p>
            <a:r>
              <a:rPr lang="en-US" altLang="zh-TW" sz="2000" dirty="0"/>
              <a:t>DX[0,0] – strength of a uniform X pattern.</a:t>
            </a:r>
          </a:p>
          <a:p>
            <a:r>
              <a:rPr lang="en-US" altLang="zh-TW" sz="2000" dirty="0"/>
              <a:t>DX[0,0] * DO[1,2] – interaction between overall X presence and O’s diagonal presence.</a:t>
            </a:r>
          </a:p>
          <a:p>
            <a:r>
              <a:rPr lang="en-US" altLang="zh-TW" sz="2000" dirty="0"/>
              <a:t>DX[2,0] * DX[0,2] * DO[1,1] – higher‑order interaction of three patterns.</a:t>
            </a:r>
          </a:p>
          <a:p>
            <a:endParaRPr lang="en-US" altLang="zh-TW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8A7438-8051-F94C-ED64-18745A13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281257"/>
            <a:ext cx="3712869" cy="12463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39314D8-136C-BDBF-64B8-09265138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10" y="3776192"/>
            <a:ext cx="3712869" cy="144252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5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83FD01-DB5E-7073-F19F-40A880E1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Perfect supervision from the exhaustive game tree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9BF5A8-6200-C124-C3C7-BE91D6AD2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Enumerate all legal positions and compute the exact minimax solution</a:t>
            </a:r>
          </a:p>
          <a:p>
            <a:r>
              <a:rPr lang="en-US" altLang="zh-TW" dirty="0"/>
              <a:t>dataset of about </a:t>
            </a:r>
            <a:r>
              <a:rPr lang="en-US" altLang="zh-TW" b="1" dirty="0"/>
              <a:t>19 121 (state, move) examples</a:t>
            </a:r>
            <a:r>
              <a:rPr lang="en-US" altLang="zh-TW" dirty="0"/>
              <a:t>, with labels:</a:t>
            </a:r>
          </a:p>
          <a:p>
            <a:r>
              <a:rPr lang="en-US" altLang="zh-TW" sz="2400" dirty="0"/>
              <a:t>1 if the move is minimax‑optimal,</a:t>
            </a:r>
          </a:p>
          <a:p>
            <a:r>
              <a:rPr lang="en-US" altLang="zh-TW" sz="2400" dirty="0"/>
              <a:t>0 otherwise.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dirty="0"/>
              <a:t>score(</a:t>
            </a:r>
            <a:r>
              <a:rPr lang="el-GR" altLang="zh-TW" i="1" dirty="0"/>
              <a:t>ϕ</a:t>
            </a:r>
            <a:r>
              <a:rPr lang="el-GR" altLang="zh-TW" dirty="0"/>
              <a:t>)=</a:t>
            </a:r>
            <a:r>
              <a:rPr lang="en-US" altLang="zh-TW" i="1" dirty="0" err="1"/>
              <a:t>wT</a:t>
            </a:r>
            <a:r>
              <a:rPr lang="el-GR" altLang="zh-TW" i="1" dirty="0"/>
              <a:t>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480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B1CE89-FD1C-CFDA-4E15-EC0DDC18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 of poly4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CF27AA-591D-4664-947B-F3250F23D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98.3%</a:t>
            </a:r>
            <a:r>
              <a:rPr lang="en-US" altLang="zh-TW" dirty="0"/>
              <a:t> of states where the chosen move is one of the optimal minimax moves.</a:t>
            </a:r>
          </a:p>
          <a:p>
            <a:r>
              <a:rPr lang="en-US" altLang="zh-TW" b="1" dirty="0"/>
              <a:t>Gameplay vs random player</a:t>
            </a:r>
          </a:p>
          <a:p>
            <a:r>
              <a:rPr lang="en-US" altLang="zh-TW" sz="2400" b="1" dirty="0"/>
              <a:t>93 wins</a:t>
            </a:r>
            <a:r>
              <a:rPr lang="en-US" altLang="zh-TW" sz="2400" dirty="0"/>
              <a:t>, 7 draws, 0 losses.</a:t>
            </a:r>
          </a:p>
          <a:p>
            <a:r>
              <a:rPr lang="en-US" altLang="zh-TW" b="1" dirty="0"/>
              <a:t>Gameplay vs perfect player</a:t>
            </a:r>
          </a:p>
          <a:p>
            <a:r>
              <a:rPr lang="en-US" altLang="zh-TW" sz="2400" dirty="0"/>
              <a:t>0 wins, 100 draws, 0 losses.</a:t>
            </a:r>
          </a:p>
          <a:p>
            <a:r>
              <a:rPr lang="en-US" altLang="zh-TW" b="1" dirty="0"/>
              <a:t>Self‑play: policy vs itself</a:t>
            </a:r>
          </a:p>
          <a:p>
            <a:r>
              <a:rPr lang="en-US" altLang="zh-TW" dirty="0"/>
              <a:t>0 wins, 100 draws, 0 losses.</a:t>
            </a:r>
          </a:p>
        </p:txBody>
      </p:sp>
    </p:spTree>
    <p:extLst>
      <p:ext uri="{BB962C8B-B14F-4D97-AF65-F5344CB8AC3E}">
        <p14:creationId xmlns:p14="http://schemas.microsoft.com/office/powerpoint/2010/main" val="400340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0960CA9-5F71-7535-165A-8B9E4718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Partial‑data experiment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5526DD3-69CD-CC79-7EEF-72A199394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287302"/>
              </p:ext>
            </p:extLst>
          </p:nvPr>
        </p:nvGraphicFramePr>
        <p:xfrm>
          <a:off x="478936" y="1822348"/>
          <a:ext cx="10982380" cy="445216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0538">
                  <a:extLst>
                    <a:ext uri="{9D8B030D-6E8A-4147-A177-3AD203B41FA5}">
                      <a16:colId xmlns:a16="http://schemas.microsoft.com/office/drawing/2014/main" val="1921877935"/>
                    </a:ext>
                  </a:extLst>
                </a:gridCol>
                <a:gridCol w="1452297">
                  <a:extLst>
                    <a:ext uri="{9D8B030D-6E8A-4147-A177-3AD203B41FA5}">
                      <a16:colId xmlns:a16="http://schemas.microsoft.com/office/drawing/2014/main" val="2191056608"/>
                    </a:ext>
                  </a:extLst>
                </a:gridCol>
                <a:gridCol w="1731373">
                  <a:extLst>
                    <a:ext uri="{9D8B030D-6E8A-4147-A177-3AD203B41FA5}">
                      <a16:colId xmlns:a16="http://schemas.microsoft.com/office/drawing/2014/main" val="2055019487"/>
                    </a:ext>
                  </a:extLst>
                </a:gridCol>
                <a:gridCol w="1562043">
                  <a:extLst>
                    <a:ext uri="{9D8B030D-6E8A-4147-A177-3AD203B41FA5}">
                      <a16:colId xmlns:a16="http://schemas.microsoft.com/office/drawing/2014/main" val="1652869416"/>
                    </a:ext>
                  </a:extLst>
                </a:gridCol>
                <a:gridCol w="1562043">
                  <a:extLst>
                    <a:ext uri="{9D8B030D-6E8A-4147-A177-3AD203B41FA5}">
                      <a16:colId xmlns:a16="http://schemas.microsoft.com/office/drawing/2014/main" val="3400300451"/>
                    </a:ext>
                  </a:extLst>
                </a:gridCol>
                <a:gridCol w="1562043">
                  <a:extLst>
                    <a:ext uri="{9D8B030D-6E8A-4147-A177-3AD203B41FA5}">
                      <a16:colId xmlns:a16="http://schemas.microsoft.com/office/drawing/2014/main" val="846603985"/>
                    </a:ext>
                  </a:extLst>
                </a:gridCol>
                <a:gridCol w="1562043">
                  <a:extLst>
                    <a:ext uri="{9D8B030D-6E8A-4147-A177-3AD203B41FA5}">
                      <a16:colId xmlns:a16="http://schemas.microsoft.com/office/drawing/2014/main" val="350590786"/>
                    </a:ext>
                  </a:extLst>
                </a:gridCol>
              </a:tblGrid>
              <a:tr h="1426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60" dirty="0">
                          <a:solidFill>
                            <a:schemeClr val="tx1"/>
                          </a:solidFill>
                          <a:effectLst/>
                        </a:rPr>
                        <a:t>Fraction of data</a:t>
                      </a:r>
                    </a:p>
                  </a:txBody>
                  <a:tcPr marL="95221" marR="95221" marT="137118" marB="137118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60" dirty="0">
                          <a:solidFill>
                            <a:schemeClr val="tx1"/>
                          </a:solidFill>
                          <a:effectLst/>
                        </a:rPr>
                        <a:t>Samples used (moves)</a:t>
                      </a:r>
                    </a:p>
                  </a:txBody>
                  <a:tcPr marL="95221" marR="95221" marT="137118" marB="137118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60" dirty="0">
                          <a:solidFill>
                            <a:schemeClr val="tx1"/>
                          </a:solidFill>
                          <a:effectLst/>
                        </a:rPr>
                        <a:t>Poly4 accuracy</a:t>
                      </a:r>
                    </a:p>
                  </a:txBody>
                  <a:tcPr marL="95221" marR="95221" marT="137118" marB="137118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</a:rPr>
                        <a:t>Unique States kept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800" b="1" dirty="0">
                          <a:effectLst/>
                        </a:rPr>
                        <a:t>Vs Random (W/D/L)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</a:rPr>
                        <a:t>Vs Perfect (W/D/L)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</a:rPr>
                        <a:t>Self-play (W/D/L)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801077"/>
                  </a:ext>
                </a:extLst>
              </a:tr>
              <a:tr h="605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0.05</a:t>
                      </a:r>
                    </a:p>
                  </a:txBody>
                  <a:tcPr marL="95221" marR="95221" marT="47611" marB="13711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956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65.0%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226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50 / 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25 / 25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323275"/>
                  </a:ext>
                </a:extLst>
              </a:tr>
              <a:tr h="605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0.10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1912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70.3%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452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48 / 2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50 / 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64886"/>
                  </a:ext>
                </a:extLst>
              </a:tr>
              <a:tr h="605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0.20</a:t>
                      </a:r>
                    </a:p>
                  </a:txBody>
                  <a:tcPr marL="95221" marR="95221" marT="47611" marB="13711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3824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70.6%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904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49 / 1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859363"/>
                  </a:ext>
                </a:extLst>
              </a:tr>
              <a:tr h="605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9560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91.9%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2 260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48 / 2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68096"/>
                  </a:ext>
                </a:extLst>
              </a:tr>
              <a:tr h="605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>
                          <a:solidFill>
                            <a:schemeClr val="tx1"/>
                          </a:solidFill>
                          <a:effectLst/>
                        </a:rPr>
                        <a:t>1.00</a:t>
                      </a:r>
                    </a:p>
                  </a:txBody>
                  <a:tcPr marL="95221" marR="95221" marT="47611" marB="137118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19121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cap="none" spc="0" dirty="0">
                          <a:solidFill>
                            <a:schemeClr val="tx1"/>
                          </a:solidFill>
                          <a:effectLst/>
                        </a:rPr>
                        <a:t>98.3%</a:t>
                      </a:r>
                    </a:p>
                  </a:txBody>
                  <a:tcPr marL="95221" marR="95221" marT="47611" marB="1371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4 520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47 / 3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effectLst/>
                        </a:rPr>
                        <a:t>0 / 50 / 0</a:t>
                      </a:r>
                    </a:p>
                  </a:txBody>
                  <a:tcPr marL="63500" marR="63500" marT="31750" marB="31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63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77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522</Words>
  <Application>Microsoft Office PowerPoint</Application>
  <PresentationFormat>寬螢幕</PresentationFormat>
  <Paragraphs>88</Paragraphs>
  <Slides>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Polynomial Spectral Pattern</vt:lpstr>
      <vt:lpstr>"spectral" pattern on 3×3</vt:lpstr>
      <vt:lpstr>2D Discrete Cosine Transform (DCT)</vt:lpstr>
      <vt:lpstr>PowerPoint 簡報</vt:lpstr>
      <vt:lpstr>Products of these spectral coefficients</vt:lpstr>
      <vt:lpstr>Perfect supervision from the exhaustive game tree</vt:lpstr>
      <vt:lpstr>Test of poly4</vt:lpstr>
      <vt:lpstr>Partial‑data 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Chen</dc:creator>
  <cp:lastModifiedBy>Danny Chen</cp:lastModifiedBy>
  <cp:revision>4</cp:revision>
  <dcterms:created xsi:type="dcterms:W3CDTF">2025-11-18T01:02:43Z</dcterms:created>
  <dcterms:modified xsi:type="dcterms:W3CDTF">2025-11-18T07:05:13Z</dcterms:modified>
</cp:coreProperties>
</file>